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  <p:embeddedFont>
      <p:font typeface="Merriweather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bold.fntdata"/><Relationship Id="rId3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33" Type="http://schemas.openxmlformats.org/officeDocument/2006/relationships/font" Target="fonts/Merriweather-boldItalic.fntdata"/><Relationship Id="rId10" Type="http://schemas.openxmlformats.org/officeDocument/2006/relationships/slide" Target="slides/slide5.xml"/><Relationship Id="rId32" Type="http://schemas.openxmlformats.org/officeDocument/2006/relationships/font" Target="fonts/Merriweath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119bcd39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119bcd39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119bcd39d_0_1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119bcd39d_0_1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119bcd39d_0_1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119bcd39d_0_1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119bcd39d_0_1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119bcd39d_0_1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119bcd39d_0_1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119bcd39d_0_1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15280a09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15280a09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56bf7d4e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56bf7d4e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56bf7d4e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56bf7d4e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5bc0773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5bc0773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5bc07739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5bc07739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5bc07739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5bc07739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5bc07739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5bc07739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5bc07739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5bc07739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5bc07739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5bc07739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5bc07739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5bc07739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J-VHXlTIh_ihYnEajIidb0D7UYZlKtty/view" TargetMode="External"/><Relationship Id="rId4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/>
              <a:t>DETACH : Conception et implémentation d’une interface en ligne de commande pour l’analyseur d’ordonnancement </a:t>
            </a:r>
            <a:endParaRPr sz="27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248001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>CHEDDAR</a:t>
            </a:r>
            <a:endParaRPr b="1" sz="700"/>
          </a:p>
        </p:txBody>
      </p:sp>
      <p:sp>
        <p:nvSpPr>
          <p:cNvPr id="66" name="Google Shape;66;p13"/>
          <p:cNvSpPr txBox="1"/>
          <p:nvPr/>
        </p:nvSpPr>
        <p:spPr>
          <a:xfrm>
            <a:off x="5272425" y="3218300"/>
            <a:ext cx="370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Jayche Taha</a:t>
            </a:r>
            <a:endParaRPr sz="1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br>
              <a:rPr lang="fr" sz="1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fr" sz="1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encadré par :                       Hai Nam Tran</a:t>
            </a:r>
            <a:endParaRPr sz="1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8260125" y="4820400"/>
            <a:ext cx="72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juin 2026</a:t>
            </a:r>
            <a:endParaRPr sz="9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1543" y="55600"/>
            <a:ext cx="788057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8319" y="55600"/>
            <a:ext cx="864218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0438" y="2441103"/>
            <a:ext cx="1003425" cy="8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</a:t>
            </a:r>
            <a:r>
              <a:rPr lang="fr"/>
              <a:t>ystèmes</a:t>
            </a:r>
            <a:r>
              <a:rPr lang="fr"/>
              <a:t> temps réels</a:t>
            </a:r>
            <a:endParaRPr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4175" y="3153650"/>
            <a:ext cx="2769825" cy="15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4163" y="1346388"/>
            <a:ext cx="2769826" cy="158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4088" y="2255588"/>
            <a:ext cx="2472974" cy="158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>
            <a:off x="305375" y="1493600"/>
            <a:ext cx="2646600" cy="76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Les systèmes temps réel imposent des contraintes temporelles strictes</a:t>
            </a:r>
            <a:endParaRPr b="1" sz="1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305375" y="2312750"/>
            <a:ext cx="2646600" cy="76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Une réponse tardive peut provoquer une défaillance critique</a:t>
            </a:r>
            <a:endParaRPr b="1" sz="1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05375" y="3189050"/>
            <a:ext cx="2646600" cy="76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Le fonctionnement du système dépend autant du temps que du calcul</a:t>
            </a:r>
            <a:endParaRPr b="1" sz="8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305375" y="4065350"/>
            <a:ext cx="2646600" cy="76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L’analyse du système devient donc essentielle</a:t>
            </a:r>
            <a:endParaRPr b="1" sz="1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CHEDDAR</a:t>
            </a:r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9700" y="4363975"/>
            <a:ext cx="958455" cy="779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15"/>
          <p:cNvGrpSpPr/>
          <p:nvPr/>
        </p:nvGrpSpPr>
        <p:grpSpPr>
          <a:xfrm>
            <a:off x="4764873" y="1314075"/>
            <a:ext cx="4235453" cy="3132925"/>
            <a:chOff x="4829273" y="2073375"/>
            <a:chExt cx="4235453" cy="3132925"/>
          </a:xfrm>
        </p:grpSpPr>
        <p:pic>
          <p:nvPicPr>
            <p:cNvPr id="91" name="Google Shape;91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29273" y="2073375"/>
              <a:ext cx="4235453" cy="2939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5"/>
            <p:cNvSpPr txBox="1"/>
            <p:nvPr/>
          </p:nvSpPr>
          <p:spPr>
            <a:xfrm>
              <a:off x="6646300" y="4929400"/>
              <a:ext cx="762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600">
                  <a:latin typeface="Roboto"/>
                  <a:ea typeface="Roboto"/>
                  <a:cs typeface="Roboto"/>
                  <a:sym typeface="Roboto"/>
                </a:rPr>
                <a:t>CHEDDAR GUI</a:t>
              </a:r>
              <a:endParaRPr b="1" sz="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93" name="Google Shape;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2375" y="4541200"/>
            <a:ext cx="1234725" cy="4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50075" y="4541200"/>
            <a:ext cx="1125900" cy="46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5"/>
          <p:cNvGrpSpPr/>
          <p:nvPr/>
        </p:nvGrpSpPr>
        <p:grpSpPr>
          <a:xfrm>
            <a:off x="101250" y="1644163"/>
            <a:ext cx="3905400" cy="2472750"/>
            <a:chOff x="80850" y="1379400"/>
            <a:chExt cx="3905400" cy="2472750"/>
          </a:xfrm>
        </p:grpSpPr>
        <p:sp>
          <p:nvSpPr>
            <p:cNvPr id="96" name="Google Shape;96;p15"/>
            <p:cNvSpPr/>
            <p:nvPr/>
          </p:nvSpPr>
          <p:spPr>
            <a:xfrm>
              <a:off x="80850" y="1379400"/>
              <a:ext cx="3905400" cy="5052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100">
                  <a:solidFill>
                    <a:schemeClr val="l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CHEDDAR est un framework libre d’ordonnancement</a:t>
              </a:r>
              <a:endParaRPr b="1" sz="11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80850" y="2035250"/>
              <a:ext cx="3905400" cy="5052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100">
                  <a:solidFill>
                    <a:schemeClr val="l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Vérifier les contraintes temporelles</a:t>
              </a:r>
              <a:endParaRPr b="1" sz="11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80850" y="3346950"/>
              <a:ext cx="3905400" cy="5052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100">
                  <a:solidFill>
                    <a:schemeClr val="l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Simulations d’ordonnancements</a:t>
              </a:r>
              <a:endParaRPr b="1" sz="11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80850" y="2691100"/>
              <a:ext cx="3905400" cy="5052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100">
                  <a:solidFill>
                    <a:schemeClr val="lt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Testes de faisabilités et fonctionnalités d’analyse</a:t>
              </a:r>
              <a:endParaRPr b="1" sz="11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Problématique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L’interface graphique limite les analyses massives et l’automatisation.</a:t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4146075" y="183163"/>
            <a:ext cx="2020800" cy="7959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CHEDDAR fonctionne principalement par </a:t>
            </a:r>
            <a:r>
              <a:rPr b="1" lang="fr" sz="1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l'interface</a:t>
            </a:r>
            <a:r>
              <a:rPr b="1" lang="fr" sz="1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graphique </a:t>
            </a:r>
            <a:endParaRPr b="1" sz="1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4175313" y="2427300"/>
            <a:ext cx="2054700" cy="79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L’interface graphique limite les analyses massives et l’automatisation</a:t>
            </a:r>
            <a:endParaRPr b="1" sz="1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6871000" y="1317888"/>
            <a:ext cx="2054700" cy="795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Les résultats d’analyse sont difficiles à exploiter automatiquement.</a:t>
            </a:r>
            <a:endParaRPr b="1" sz="1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6871000" y="3629725"/>
            <a:ext cx="2054700" cy="79590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Aucun format standardisé ne structure les données de sortie</a:t>
            </a:r>
            <a:endParaRPr b="1" sz="1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9199" y="1215013"/>
            <a:ext cx="2433075" cy="9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2450" y="50"/>
            <a:ext cx="2681451" cy="128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9193" y="3477476"/>
            <a:ext cx="3231207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Objective du TAL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4961725" y="861525"/>
            <a:ext cx="3535164" cy="3503196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erriweather"/>
              <a:buAutoNum type="arabicPeriod"/>
            </a:pPr>
            <a:r>
              <a:rPr lang="fr" sz="12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Corriger la</a:t>
            </a:r>
            <a:r>
              <a:rPr lang="fr" sz="12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version ligne de commande et élargir son mode d’emploi</a:t>
            </a:r>
            <a:endParaRPr sz="12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AutoNum type="arabicPeriod"/>
            </a:pPr>
            <a:r>
              <a:rPr lang="fr" sz="13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Effectuer et documenter les tests de la version ligne de commande</a:t>
            </a:r>
            <a:endParaRPr sz="13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erriweather"/>
              <a:buAutoNum type="arabicPeriod"/>
            </a:pPr>
            <a:r>
              <a:rPr lang="fr" sz="12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Concevoir et Implémenter un schéma XML pour les différents types analyses</a:t>
            </a:r>
            <a:endParaRPr sz="13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1645875"/>
            <a:ext cx="5365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la version actuelle de la </a:t>
            </a:r>
            <a:r>
              <a:rPr b="1"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CLI </a:t>
            </a:r>
            <a:r>
              <a:rPr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fonctionne par prendre en entrée : </a:t>
            </a:r>
            <a:endParaRPr sz="9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-"/>
            </a:pPr>
            <a:r>
              <a:rPr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Fichier XML du système : Ce fichier contient un schéma XML représentant les différents composants du système sur les deux aspects </a:t>
            </a:r>
            <a:r>
              <a:rPr b="1"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Hardware</a:t>
            </a:r>
            <a:r>
              <a:rPr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et </a:t>
            </a:r>
            <a:r>
              <a:rPr b="1"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Software </a:t>
            </a:r>
            <a:endParaRPr b="1" i="1" sz="9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(--file=&lt;/path/to/fichier.xml&gt;)</a:t>
            </a:r>
            <a:endParaRPr b="1" i="1" sz="9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-"/>
            </a:pPr>
            <a:r>
              <a:rPr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Liste de requêtes : Les requêtes à être exécuté par le </a:t>
            </a:r>
            <a:r>
              <a:rPr i="1"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Framework  </a:t>
            </a:r>
            <a:endParaRPr b="1" i="1" sz="9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(--request=request1,request2…)</a:t>
            </a:r>
            <a:endParaRPr b="1" i="1" sz="9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9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-"/>
            </a:pPr>
            <a:r>
              <a:rPr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paramétrage des requêtes</a:t>
            </a:r>
            <a:endParaRPr sz="9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</a:t>
            </a:r>
            <a:r>
              <a:rPr b="1" i="1"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(--param=param1=valeur)</a:t>
            </a:r>
            <a:endParaRPr sz="9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-"/>
            </a:pPr>
            <a:r>
              <a:rPr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le type de sortie : pour spécifier le type de sortie souhaité </a:t>
            </a:r>
            <a:r>
              <a:rPr b="1" i="1" lang="fr" sz="9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( analyse , tableau d'événements , système )</a:t>
            </a:r>
            <a:endParaRPr b="1" i="1" sz="9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7" name="Google Shape;127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CHEDDAR CLI v0.1</a:t>
            </a:r>
            <a:endParaRPr/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1775" y="1316450"/>
            <a:ext cx="3852236" cy="371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/>
        </p:nvSpPr>
        <p:spPr>
          <a:xfrm>
            <a:off x="0" y="1276575"/>
            <a:ext cx="213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fonctionnement 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130" name="Google Shape;130;p18"/>
          <p:cNvGrpSpPr/>
          <p:nvPr/>
        </p:nvGrpSpPr>
        <p:grpSpPr>
          <a:xfrm>
            <a:off x="0" y="3492975"/>
            <a:ext cx="3914900" cy="1065550"/>
            <a:chOff x="172325" y="4077950"/>
            <a:chExt cx="3914900" cy="1065550"/>
          </a:xfrm>
        </p:grpSpPr>
        <p:sp>
          <p:nvSpPr>
            <p:cNvPr id="131" name="Google Shape;131;p18"/>
            <p:cNvSpPr txBox="1"/>
            <p:nvPr/>
          </p:nvSpPr>
          <p:spPr>
            <a:xfrm>
              <a:off x="311725" y="4343100"/>
              <a:ext cx="37755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36464E"/>
                  </a:solidFill>
                  <a:highlight>
                    <a:srgbClr val="F5F5F5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cheddar_cli</a:t>
              </a:r>
              <a:r>
                <a:rPr lang="fr" sz="800">
                  <a:solidFill>
                    <a:srgbClr val="36464E"/>
                  </a:solidFill>
                  <a:highlight>
                    <a:srgbClr val="F5F5F5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\</a:t>
              </a:r>
              <a:endParaRPr sz="800">
                <a:solidFill>
                  <a:srgbClr val="36464E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36464E"/>
                  </a:solidFill>
                  <a:highlight>
                    <a:srgbClr val="F5F5F5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--file=system.xml \</a:t>
              </a:r>
              <a:endParaRPr sz="800">
                <a:solidFill>
                  <a:srgbClr val="36464E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36464E"/>
                  </a:solidFill>
                  <a:highlight>
                    <a:srgbClr val="F5F5F5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--request=simulation,scheduling_simulation_response_time \</a:t>
              </a:r>
              <a:endParaRPr sz="800">
                <a:solidFill>
                  <a:srgbClr val="36464E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36464E"/>
                  </a:solidFill>
                  <a:highlight>
                    <a:srgbClr val="F5F5F5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--param=period=100 \</a:t>
              </a:r>
              <a:endParaRPr sz="800">
                <a:solidFill>
                  <a:srgbClr val="36464E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36464E"/>
                  </a:solidFill>
                  <a:highlight>
                    <a:srgbClr val="F5F5F5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--param=schedule_with_resources=0</a:t>
              </a:r>
              <a:endPara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" name="Google Shape;132;p18"/>
            <p:cNvSpPr txBox="1"/>
            <p:nvPr/>
          </p:nvSpPr>
          <p:spPr>
            <a:xfrm>
              <a:off x="172325" y="4077950"/>
              <a:ext cx="2139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200"/>
                <a:buFont typeface="Merriweather"/>
                <a:buChar char="●"/>
              </a:pPr>
              <a:r>
                <a:rPr b="1" lang="fr" sz="1200">
                  <a:solidFill>
                    <a:schemeClr val="accent4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exemple :</a:t>
              </a:r>
              <a:endParaRPr b="1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Problèmes</a:t>
            </a:r>
            <a:r>
              <a:rPr lang="fr"/>
              <a:t> :</a:t>
            </a:r>
            <a:r>
              <a:rPr lang="fr"/>
              <a:t> CHEDDAR CLI v0.1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152925" y="1645875"/>
            <a:ext cx="4311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toute la logique de la Cheddar CLI v0.1 est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développé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sous une seul procedure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le code devient difficile à lire et à comprendre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le package devient difficile à faire évoluer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presque </a:t>
            </a:r>
            <a:r>
              <a:rPr b="1"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700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ligne de code pour une seul procedure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0" y="1276575"/>
            <a:ext cx="32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séparation des </a:t>
            </a: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responsabilités 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2800" y="1645875"/>
            <a:ext cx="5081325" cy="2626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774" y="4382700"/>
            <a:ext cx="7964274" cy="28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5213" y="4726675"/>
            <a:ext cx="35814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Problèmes : CHEDDAR CLI v0.1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152925" y="1934400"/>
            <a:ext cx="43302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seulement la sortie d’analyse est supportée en sortie standard 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l'affichage du système et du tableau des événements d'une simulation n'est pas supporté</a:t>
            </a:r>
            <a:endParaRPr sz="13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0" y="1565100"/>
            <a:ext cx="39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mauvaise gestion de la sortie standard 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53" name="Google Shape;15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" y="3198575"/>
            <a:ext cx="9144001" cy="15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Problèmes : CHEDDAR CLI v0.1</a:t>
            </a:r>
            <a:endParaRPr/>
          </a:p>
        </p:txBody>
      </p:sp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152925" y="2072200"/>
            <a:ext cx="4208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tous les paramètres sont passées à toutes les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requêtes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le framework CHEDDAR vérifie toute les paramètres avant l'exécution de chaque requêtes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des paramètres non compatibles avec des types de requêtes résulte à des erreurs d'exécutions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0" y="1702900"/>
            <a:ext cx="39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paramètrages des </a:t>
            </a: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requêtes</a:t>
            </a: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 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62" name="Google Shape;16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200" y="4082100"/>
            <a:ext cx="8167659" cy="419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975" y="4663218"/>
            <a:ext cx="66294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4623925" y="2072200"/>
            <a:ext cx="42084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avec la version actuelle on peut pas effectuer toutes les types d’analyses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quatre paramètres seulement sont implémentés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ce qui limite l'exécution et la customisation des requêtes  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4471000" y="1702900"/>
            <a:ext cx="39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v</a:t>
            </a: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ersion minimaliste 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Approche</a:t>
            </a:r>
            <a:endParaRPr/>
          </a:p>
        </p:txBody>
      </p:sp>
      <p:sp>
        <p:nvSpPr>
          <p:cNvPr id="171" name="Google Shape;17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2" name="Google Shape;172;p22"/>
          <p:cNvSpPr txBox="1"/>
          <p:nvPr/>
        </p:nvSpPr>
        <p:spPr>
          <a:xfrm>
            <a:off x="464650" y="1967713"/>
            <a:ext cx="4208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création d’une é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numération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pour le stockage de la </a:t>
            </a:r>
            <a:r>
              <a:rPr b="1"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configuration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de la ligne de commande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création d’un package pour la gestion des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paramètres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création d’un package pour parser les arguments de la ligne de commande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4825975" y="1967725"/>
            <a:ext cx="4208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création d’un tableau de stockage de toutes les types  paramètres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logique d’ajout des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paramètres selon le type de paramètre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la logique de retrait des paramètres selon le type de la requête 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311725" y="1598413"/>
            <a:ext cx="39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séparation de </a:t>
            </a: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responsabilité 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4673050" y="1598425"/>
            <a:ext cx="39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gestion des paramètres 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464638" y="3768625"/>
            <a:ext cx="4208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création d’une liste de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requêtes (les requêtes stocké dans la </a:t>
            </a:r>
            <a:r>
              <a:rPr b="1"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configuration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pour chaque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requête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retrait des paramètres fourni dans la ligne de commande 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passer la liste au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Framework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Cheddar via la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façade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311713" y="3399325"/>
            <a:ext cx="39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e</a:t>
            </a: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xécution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Vidéo</a:t>
            </a:r>
            <a:r>
              <a:rPr lang="fr"/>
              <a:t> Démonstration</a:t>
            </a:r>
            <a:endParaRPr/>
          </a:p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4" name="Google Shape;184;p23" title="Screencast From 2026-06-02 15-05-4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325" y="1311175"/>
            <a:ext cx="7417402" cy="383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Tests de régression</a:t>
            </a:r>
            <a:endParaRPr/>
          </a:p>
        </p:txBody>
      </p:sp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1" name="Google Shape;191;p24"/>
          <p:cNvSpPr txBox="1"/>
          <p:nvPr/>
        </p:nvSpPr>
        <p:spPr>
          <a:xfrm>
            <a:off x="464650" y="1731400"/>
            <a:ext cx="6507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description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e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xécution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de l’algorithme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résultat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attendus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e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xécution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avec la version ligne de commande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la commande et le fichier xml du système pour reproduire le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même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test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311725" y="1362088"/>
            <a:ext cx="39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pour chaque test  </a:t>
            </a: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93" name="Google Shape;19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5" y="3073275"/>
            <a:ext cx="4656968" cy="207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2250" y="3073275"/>
            <a:ext cx="4121753" cy="20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Spécification</a:t>
            </a:r>
            <a:r>
              <a:rPr lang="fr"/>
              <a:t> XML</a:t>
            </a:r>
            <a:endParaRPr/>
          </a:p>
        </p:txBody>
      </p:sp>
      <p:sp>
        <p:nvSpPr>
          <p:cNvPr id="200" name="Google Shape;20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1" name="Google Shape;201;p25"/>
          <p:cNvSpPr txBox="1"/>
          <p:nvPr/>
        </p:nvSpPr>
        <p:spPr>
          <a:xfrm>
            <a:off x="152925" y="1648200"/>
            <a:ext cx="5436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AutoNum type="arabicPeriod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chaque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réponse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est identifié par le type de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requête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AutoNum type="arabicPeriod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imbriqué dedans la spécification du même type de requête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0" y="1278900"/>
            <a:ext cx="39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les </a:t>
            </a: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requêtes</a:t>
            </a: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exécutées</a:t>
            </a: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 sur le système 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3" name="Google Shape;203;p25"/>
          <p:cNvSpPr txBox="1"/>
          <p:nvPr/>
        </p:nvSpPr>
        <p:spPr>
          <a:xfrm>
            <a:off x="152925" y="2599200"/>
            <a:ext cx="56160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algorithmes de p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artitionnement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: </a:t>
            </a:r>
            <a:r>
              <a:rPr b="1"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Next Fit , Best Fit , Small Task …</a:t>
            </a:r>
            <a:endParaRPr b="1"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lgorithmes d'élimination Précédences : </a:t>
            </a:r>
            <a:r>
              <a:rPr b="1" lang="fr" sz="1250">
                <a:solidFill>
                  <a:schemeClr val="dk2"/>
                </a:solidFill>
                <a:highlight>
                  <a:schemeClr val="lt1"/>
                </a:highlight>
                <a:latin typeface="Merriweather"/>
                <a:ea typeface="Merriweather"/>
                <a:cs typeface="Merriweather"/>
                <a:sym typeface="Merriweather"/>
              </a:rPr>
              <a:t>Chetto/Blazewicz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0" y="2229900"/>
            <a:ext cx="39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exemple 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05" name="Google Shape;20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175" y="3250750"/>
            <a:ext cx="4609794" cy="16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Spécification XML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2" name="Google Shape;212;p26"/>
          <p:cNvSpPr txBox="1"/>
          <p:nvPr/>
        </p:nvSpPr>
        <p:spPr>
          <a:xfrm>
            <a:off x="152925" y="1654675"/>
            <a:ext cx="54369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AutoNum type="arabicPeriod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chaque réponse est identifié par le type de requête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AutoNum type="arabicPeriod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imbriqu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é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dedans le processeur identifié par son nom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AutoNum type="arabicPeriod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imbriqu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é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dedans la spécification du même type de requête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0" y="1285375"/>
            <a:ext cx="39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les requêtes spécifiques au processeurs 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139850" y="2766025"/>
            <a:ext cx="6234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lgorithmes d’affectation de priorité: </a:t>
            </a:r>
            <a:r>
              <a:rPr b="1"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RM ,DM …</a:t>
            </a:r>
            <a:endParaRPr b="1"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tests de faisabilité 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-13087" y="2396725"/>
            <a:ext cx="39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exemple 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16" name="Google Shape;21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775" y="3261625"/>
            <a:ext cx="4789425" cy="17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222" name="Google Shape;22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23" name="Google Shape;223;p27"/>
          <p:cNvSpPr txBox="1"/>
          <p:nvPr/>
        </p:nvSpPr>
        <p:spPr>
          <a:xfrm>
            <a:off x="152925" y="1648200"/>
            <a:ext cx="54369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meilleure maintenabilité du code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exécution plus robuste des requêtes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faciliter la prise en main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exploitation facilitée des résultats d'analyse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0" y="1278900"/>
            <a:ext cx="39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synthèse 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5" name="Google Shape;225;p27"/>
          <p:cNvSpPr txBox="1"/>
          <p:nvPr/>
        </p:nvSpPr>
        <p:spPr>
          <a:xfrm>
            <a:off x="152925" y="3205175"/>
            <a:ext cx="54369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mplémenter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les tests pour tous les autres types de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requêtes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faire une évaluation temporelle de 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l'exécution de la version CLI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erriweather"/>
              <a:buChar char="●"/>
            </a:pP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i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mplémenter une spécification pour les autres type d’analyses</a:t>
            </a:r>
            <a:r>
              <a:rPr lang="fr" sz="12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sz="12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6" name="Google Shape;226;p27"/>
          <p:cNvSpPr txBox="1"/>
          <p:nvPr/>
        </p:nvSpPr>
        <p:spPr>
          <a:xfrm>
            <a:off x="0" y="2835875"/>
            <a:ext cx="39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erriweather"/>
              <a:buChar char="●"/>
            </a:pPr>
            <a:r>
              <a:rPr b="1" lang="fr" sz="1200">
                <a:solidFill>
                  <a:schemeClr val="accent4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travail :</a:t>
            </a:r>
            <a:endParaRPr b="1" sz="1200">
              <a:solidFill>
                <a:schemeClr val="accent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type="title"/>
          </p:nvPr>
        </p:nvSpPr>
        <p:spPr>
          <a:xfrm>
            <a:off x="1904550" y="1949400"/>
            <a:ext cx="5334900" cy="12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MERCI</a:t>
            </a:r>
            <a:endParaRPr/>
          </a:p>
        </p:txBody>
      </p:sp>
      <p:sp>
        <p:nvSpPr>
          <p:cNvPr id="232" name="Google Shape;23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